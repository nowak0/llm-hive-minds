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 Medium"/>
      <p:regular r:id="rId14"/>
      <p:bold r:id="rId15"/>
      <p:italic r:id="rId16"/>
      <p:boldItalic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Medium-bold.fntdata"/><Relationship Id="rId14" Type="http://schemas.openxmlformats.org/officeDocument/2006/relationships/font" Target="fonts/RobotoMonoMedium-regular.fntdata"/><Relationship Id="rId17" Type="http://schemas.openxmlformats.org/officeDocument/2006/relationships/font" Target="fonts/RobotoMonoMedium-boldItalic.fntdata"/><Relationship Id="rId16" Type="http://schemas.openxmlformats.org/officeDocument/2006/relationships/font" Target="fonts/RobotoMono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2daf70c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2daf70c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16f26d6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e16f26d6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e16f26d6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e16f26d6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daf70c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daf70c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daf70c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daf70c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2daf70c3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2daf70c3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e16f26d6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e16f26d6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11700" y="317550"/>
            <a:ext cx="8520600" cy="4508400"/>
          </a:xfrm>
          <a:prstGeom prst="roundRect">
            <a:avLst>
              <a:gd fmla="val 16667" name="adj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311700" y="317550"/>
            <a:ext cx="8520600" cy="4508400"/>
          </a:xfrm>
          <a:prstGeom prst="roundRect">
            <a:avLst>
              <a:gd fmla="val 16667" name="adj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1028700"/>
            <a:ext cx="8520600" cy="227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4780">
                <a:latin typeface="Roboto Mono Medium"/>
                <a:ea typeface="Roboto Mono Medium"/>
                <a:cs typeface="Roboto Mono Medium"/>
                <a:sym typeface="Roboto Mono Medium"/>
              </a:rPr>
              <a:t>Rozproszona współpraca LLM inspirowana umysłami rojowymi</a:t>
            </a:r>
            <a:endParaRPr sz="478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686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700">
                <a:latin typeface="Roboto Mono"/>
                <a:ea typeface="Roboto Mono"/>
                <a:cs typeface="Roboto Mono"/>
                <a:sym typeface="Roboto Mono"/>
              </a:rPr>
              <a:t>Jakub Nowak, Alicja Sobiech, Oliwier Komorowski, Kacper Skudlarz</a:t>
            </a:r>
            <a:br>
              <a:rPr lang="pl" sz="17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pl" sz="17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l" sz="1700">
                <a:latin typeface="Roboto Mono"/>
                <a:ea typeface="Roboto Mono"/>
                <a:cs typeface="Roboto Mono"/>
                <a:sym typeface="Roboto Mono"/>
              </a:rPr>
              <a:t>Opiekun projektu: mgr inż. Jan </a:t>
            </a:r>
            <a:r>
              <a:rPr lang="pl" sz="1700">
                <a:latin typeface="Roboto Mono"/>
                <a:ea typeface="Roboto Mono"/>
                <a:cs typeface="Roboto Mono"/>
                <a:sym typeface="Roboto Mono"/>
              </a:rPr>
              <a:t>Majkutewicz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6725"/>
            <a:ext cx="85206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pl" sz="3520">
                <a:latin typeface="Roboto Mono"/>
                <a:ea typeface="Roboto Mono"/>
                <a:cs typeface="Roboto Mono"/>
                <a:sym typeface="Roboto Mono"/>
              </a:rPr>
              <a:t>PLAN PREZENTACJI</a:t>
            </a:r>
            <a:endParaRPr b="1" sz="352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63" name="Google Shape;63;p14"/>
          <p:cNvSpPr txBox="1"/>
          <p:nvPr>
            <p:ph idx="4294967295" type="body"/>
          </p:nvPr>
        </p:nvSpPr>
        <p:spPr>
          <a:xfrm>
            <a:off x="891300" y="1434450"/>
            <a:ext cx="7361400" cy="27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oboto Mono"/>
              <a:buAutoNum type="arabicPeriod"/>
            </a:pPr>
            <a:r>
              <a:rPr lang="pl" sz="2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Informacje Ogólne</a:t>
            </a:r>
            <a:endParaRPr i="1" sz="24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oboto Mono"/>
              <a:buAutoNum type="arabicPeriod"/>
            </a:pPr>
            <a:r>
              <a:rPr lang="pl" sz="2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Główne założenia projektowe</a:t>
            </a:r>
            <a:endParaRPr sz="24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oboto Mono"/>
              <a:buAutoNum type="arabicPeriod"/>
            </a:pPr>
            <a:r>
              <a:rPr lang="pl" sz="2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Wykorzystane technologie i narzędzia</a:t>
            </a:r>
            <a:endParaRPr sz="24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oboto Mono"/>
              <a:buAutoNum type="arabicPeriod"/>
            </a:pPr>
            <a:r>
              <a:rPr lang="pl" sz="2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Osiągnięte rezultaty</a:t>
            </a:r>
            <a:endParaRPr sz="24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2400"/>
              <a:buFont typeface="Roboto Mono"/>
              <a:buAutoNum type="arabicPeriod"/>
            </a:pPr>
            <a:r>
              <a:rPr lang="pl" sz="2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Plany na następny semestr</a:t>
            </a:r>
            <a:endParaRPr sz="24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6725"/>
            <a:ext cx="85206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pl" sz="3520">
                <a:latin typeface="Roboto Mono"/>
                <a:ea typeface="Roboto Mono"/>
                <a:cs typeface="Roboto Mono"/>
                <a:sym typeface="Roboto Mono"/>
              </a:rPr>
              <a:t>INFORMACJE OGÓLNE</a:t>
            </a:r>
            <a:endParaRPr b="1" sz="352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69" name="Google Shape;69;p15"/>
          <p:cNvSpPr txBox="1"/>
          <p:nvPr>
            <p:ph idx="4294967295" type="body"/>
          </p:nvPr>
        </p:nvSpPr>
        <p:spPr>
          <a:xfrm>
            <a:off x="681450" y="1528450"/>
            <a:ext cx="7781100" cy="27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Celem projektu jest opracowanie systemu </a:t>
            </a:r>
            <a:r>
              <a:rPr b="1" lang="pl" sz="2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rozproszonej współpracy modeli LLM inspirowanej koncepcją biologicznych umysłów rojowych</a:t>
            </a:r>
            <a:r>
              <a:rPr lang="pl" sz="2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27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557800"/>
            <a:ext cx="85206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pl" sz="3520">
                <a:latin typeface="Roboto Mono"/>
                <a:ea typeface="Roboto Mono"/>
                <a:cs typeface="Roboto Mono"/>
                <a:sym typeface="Roboto Mono"/>
              </a:rPr>
              <a:t>GŁÓWNE ZAŁOŻENIA PROJEKTOWE</a:t>
            </a:r>
            <a:endParaRPr b="1" sz="352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75" name="Google Shape;75;p16"/>
          <p:cNvSpPr txBox="1"/>
          <p:nvPr>
            <p:ph idx="4294967295" type="body"/>
          </p:nvPr>
        </p:nvSpPr>
        <p:spPr>
          <a:xfrm>
            <a:off x="488100" y="1370450"/>
            <a:ext cx="8167800" cy="32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l" sz="205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System oparty na współdzielonym dynamicznie aktualizowanym stanie globalnym</a:t>
            </a:r>
            <a:endParaRPr sz="205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5000"/>
              </a:lnSpc>
              <a:spcBef>
                <a:spcPts val="2500"/>
              </a:spcBef>
              <a:spcAft>
                <a:spcPts val="0"/>
              </a:spcAft>
              <a:buSzPts val="935"/>
              <a:buNone/>
            </a:pPr>
            <a:r>
              <a:rPr lang="pl" sz="205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Szybka, równoległa, rozproszona komunikacja między modelami</a:t>
            </a:r>
            <a:endParaRPr sz="205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5000"/>
              </a:lnSpc>
              <a:spcBef>
                <a:spcPts val="2500"/>
              </a:spcBef>
              <a:spcAft>
                <a:spcPts val="0"/>
              </a:spcAft>
              <a:buSzPts val="935"/>
              <a:buNone/>
            </a:pPr>
            <a:r>
              <a:rPr lang="pl" sz="205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Nietrywialne podejścia do współpracy modeli</a:t>
            </a:r>
            <a:endParaRPr sz="205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5000"/>
              </a:lnSpc>
              <a:spcBef>
                <a:spcPts val="2500"/>
              </a:spcBef>
              <a:spcAft>
                <a:spcPts val="2500"/>
              </a:spcAft>
              <a:buSzPts val="935"/>
              <a:buNone/>
            </a:pPr>
            <a:r>
              <a:rPr lang="pl" sz="205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Współdziałanie modeli inspirowane umysłami rojowymi</a:t>
            </a:r>
            <a:endParaRPr sz="205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583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950">
                <a:latin typeface="Roboto Mono"/>
                <a:ea typeface="Roboto Mono"/>
                <a:cs typeface="Roboto Mono"/>
                <a:sym typeface="Roboto Mono"/>
              </a:rPr>
              <a:t>WYKORZYSTANE TECHNOLOGIE I NARZĘDZIA</a:t>
            </a:r>
            <a:endParaRPr b="1" sz="2950"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536425" y="1633950"/>
            <a:ext cx="8013849" cy="2462076"/>
            <a:chOff x="536425" y="1633950"/>
            <a:chExt cx="8013849" cy="2462076"/>
          </a:xfrm>
        </p:grpSpPr>
        <p:pic>
          <p:nvPicPr>
            <p:cNvPr id="82" name="Google Shape;82;p17" title="github_circle_log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36324" y="1633950"/>
              <a:ext cx="2413950" cy="246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7" title="ollama_circle_logo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36374" y="1669792"/>
              <a:ext cx="2475400" cy="24262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7" title="python_circle_logo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36425" y="1633950"/>
              <a:ext cx="2475397" cy="24620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72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500">
                <a:latin typeface="Roboto Mono"/>
                <a:ea typeface="Roboto Mono"/>
                <a:cs typeface="Roboto Mono"/>
                <a:sym typeface="Roboto Mono"/>
              </a:rPr>
              <a:t>OSIĄGNIĘTE REZULTATY</a:t>
            </a:r>
            <a:endParaRPr b="1" sz="35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0" name="Google Shape;90;p18"/>
          <p:cNvSpPr txBox="1"/>
          <p:nvPr>
            <p:ph idx="4294967295" type="body"/>
          </p:nvPr>
        </p:nvSpPr>
        <p:spPr>
          <a:xfrm>
            <a:off x="657300" y="1220850"/>
            <a:ext cx="782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>
                <a:latin typeface="Roboto Mono"/>
                <a:ea typeface="Roboto Mono"/>
                <a:cs typeface="Roboto Mono"/>
                <a:sym typeface="Roboto Mono"/>
              </a:rPr>
              <a:t>Aplikacja konsolowa z możliwością wprowadzania promptów przez użytkownika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pl" sz="2300">
                <a:latin typeface="Roboto Mono"/>
                <a:ea typeface="Roboto Mono"/>
                <a:cs typeface="Roboto Mono"/>
                <a:sym typeface="Roboto Mono"/>
              </a:rPr>
              <a:t>Aplikacja przystosowana jest do rozwiązywania problemów matematycznych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30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pl" sz="2300">
                <a:latin typeface="Roboto Mono"/>
                <a:ea typeface="Roboto Mono"/>
                <a:cs typeface="Roboto Mono"/>
                <a:sym typeface="Roboto Mono"/>
              </a:rPr>
              <a:t>W tym celu wykorzystuje trzech agentów bazujących na tym samym modelu LLM</a:t>
            </a:r>
            <a:endParaRPr sz="23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55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500">
                <a:latin typeface="Roboto Mono"/>
                <a:ea typeface="Roboto Mono"/>
                <a:cs typeface="Roboto Mono"/>
                <a:sym typeface="Roboto Mono"/>
              </a:rPr>
              <a:t>PLANY NA KOLEJNY SEMESTR</a:t>
            </a:r>
            <a:endParaRPr b="1" sz="35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9"/>
          <p:cNvSpPr txBox="1"/>
          <p:nvPr>
            <p:ph idx="4294967295" type="body"/>
          </p:nvPr>
        </p:nvSpPr>
        <p:spPr>
          <a:xfrm>
            <a:off x="724800" y="1451525"/>
            <a:ext cx="7694400" cy="28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" sz="2700">
                <a:latin typeface="Roboto Mono"/>
                <a:ea typeface="Roboto Mono"/>
                <a:cs typeface="Roboto Mono"/>
                <a:sym typeface="Roboto Mono"/>
              </a:rPr>
              <a:t>Zróżnicowanie wykorzystywanych </a:t>
            </a:r>
            <a:br>
              <a:rPr lang="pl" sz="27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l" sz="2700">
                <a:latin typeface="Roboto Mono"/>
                <a:ea typeface="Roboto Mono"/>
                <a:cs typeface="Roboto Mono"/>
                <a:sym typeface="Roboto Mono"/>
              </a:rPr>
              <a:t>modeli LLM</a:t>
            </a:r>
            <a:endParaRPr sz="27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pl" sz="2700">
                <a:latin typeface="Roboto Mono"/>
                <a:ea typeface="Roboto Mono"/>
                <a:cs typeface="Roboto Mono"/>
                <a:sym typeface="Roboto Mono"/>
              </a:rPr>
              <a:t>Implementacja równoległej współpracy agentów</a:t>
            </a:r>
            <a:endParaRPr sz="27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30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pl" sz="2700">
                <a:latin typeface="Roboto Mono"/>
                <a:ea typeface="Roboto Mono"/>
                <a:cs typeface="Roboto Mono"/>
                <a:sym typeface="Roboto Mono"/>
              </a:rPr>
              <a:t>Ulepszenie otrzymywanych rezultatów</a:t>
            </a:r>
            <a:endParaRPr sz="27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ctrTitle"/>
          </p:nvPr>
        </p:nvSpPr>
        <p:spPr>
          <a:xfrm>
            <a:off x="311700" y="1320150"/>
            <a:ext cx="8520600" cy="190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5780">
                <a:latin typeface="Roboto Mono Medium"/>
                <a:ea typeface="Roboto Mono Medium"/>
                <a:cs typeface="Roboto Mono Medium"/>
                <a:sym typeface="Roboto Mono Medium"/>
              </a:rPr>
              <a:t>DZIĘKUJEMY </a:t>
            </a:r>
            <a:br>
              <a:rPr lang="pl" sz="5780"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r>
              <a:rPr lang="pl" sz="5780">
                <a:latin typeface="Roboto Mono Medium"/>
                <a:ea typeface="Roboto Mono Medium"/>
                <a:cs typeface="Roboto Mono Medium"/>
                <a:sym typeface="Roboto Mono Medium"/>
              </a:rPr>
              <a:t>ZA UWAGĘ!</a:t>
            </a:r>
            <a:endParaRPr sz="578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02" name="Google Shape;102;p20"/>
          <p:cNvSpPr txBox="1"/>
          <p:nvPr>
            <p:ph idx="1" type="subTitle"/>
          </p:nvPr>
        </p:nvSpPr>
        <p:spPr>
          <a:xfrm>
            <a:off x="311700" y="36612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700">
                <a:latin typeface="Roboto Mono"/>
                <a:ea typeface="Roboto Mono"/>
                <a:cs typeface="Roboto Mono"/>
                <a:sym typeface="Roboto Mono"/>
              </a:rPr>
              <a:t>Jakub Nowak, Alicja Sobiech, Oliwier Komorowski, Kacper Skudlarz</a:t>
            </a:r>
            <a:br>
              <a:rPr lang="pl" sz="17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pl" sz="17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l" sz="1700">
                <a:latin typeface="Roboto Mono"/>
                <a:ea typeface="Roboto Mono"/>
                <a:cs typeface="Roboto Mono"/>
                <a:sym typeface="Roboto Mono"/>
              </a:rPr>
              <a:t>Opiekun projektu: mgr inż. Jan Majkutewicz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