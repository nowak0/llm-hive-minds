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62" r:id="rId13"/>
    <p:sldId id="263" r:id="rId14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16"/>
      <p:bold r:id="rId17"/>
      <p:italic r:id="rId18"/>
      <p:boldItalic r:id="rId19"/>
    </p:embeddedFont>
    <p:embeddedFont>
      <p:font typeface="Roboto Mono Medium" panose="00000009000000000000" pitchFamily="49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2AB48A-230B-6419-C9CF-53B6FD59654F}" v="168" dt="2026-01-29T14:59:02.349"/>
    <p1510:client id="{15EE85DD-AE7D-1E24-9DEB-A7009D84CD8F}" v="11" dt="2026-01-29T18:00:52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92daf70c3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92daf70c3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e16f26d6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e16f26d6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e16f26d6e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e16f26d6e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92daf70c3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92daf70c3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2daf70c3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2daf70c38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133E1C9-3014-AAE9-E9D8-DB1E77BA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2daf70c38_0_26:notes">
            <a:extLst>
              <a:ext uri="{FF2B5EF4-FFF2-40B4-BE49-F238E27FC236}">
                <a16:creationId xmlns:a16="http://schemas.microsoft.com/office/drawing/2014/main" id="{FB9F7A49-D571-0F2D-FF24-6EDD20A29E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2daf70c38_0_26:notes">
            <a:extLst>
              <a:ext uri="{FF2B5EF4-FFF2-40B4-BE49-F238E27FC236}">
                <a16:creationId xmlns:a16="http://schemas.microsoft.com/office/drawing/2014/main" id="{6C6285F0-64CF-D491-C4B1-D51918B11C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2026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1527C6B-8B96-64DF-3564-E1B71B39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2daf70c38_0_26:notes">
            <a:extLst>
              <a:ext uri="{FF2B5EF4-FFF2-40B4-BE49-F238E27FC236}">
                <a16:creationId xmlns:a16="http://schemas.microsoft.com/office/drawing/2014/main" id="{88D709D0-12E4-FABB-7E08-3F49FDF007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2daf70c38_0_26:notes">
            <a:extLst>
              <a:ext uri="{FF2B5EF4-FFF2-40B4-BE49-F238E27FC236}">
                <a16:creationId xmlns:a16="http://schemas.microsoft.com/office/drawing/2014/main" id="{F1AE93F5-9E50-E0F2-1D71-94C95EB5E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5314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B881313-1233-70A9-D502-521077C07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2daf70c38_0_26:notes">
            <a:extLst>
              <a:ext uri="{FF2B5EF4-FFF2-40B4-BE49-F238E27FC236}">
                <a16:creationId xmlns:a16="http://schemas.microsoft.com/office/drawing/2014/main" id="{5FBE4260-91F8-A162-BFF9-FC93E3104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2daf70c38_0_26:notes">
            <a:extLst>
              <a:ext uri="{FF2B5EF4-FFF2-40B4-BE49-F238E27FC236}">
                <a16:creationId xmlns:a16="http://schemas.microsoft.com/office/drawing/2014/main" id="{39BB9F50-B326-7C4A-2AD3-017CE29815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23327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D7903BB-6835-7FCA-8BE0-D06DFA33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2daf70c38_0_26:notes">
            <a:extLst>
              <a:ext uri="{FF2B5EF4-FFF2-40B4-BE49-F238E27FC236}">
                <a16:creationId xmlns:a16="http://schemas.microsoft.com/office/drawing/2014/main" id="{034B0CF6-CB3B-9A03-F121-603A77F3A5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2daf70c38_0_26:notes">
            <a:extLst>
              <a:ext uri="{FF2B5EF4-FFF2-40B4-BE49-F238E27FC236}">
                <a16:creationId xmlns:a16="http://schemas.microsoft.com/office/drawing/2014/main" id="{757CB28C-F7EB-1C5E-3366-8A3C609881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9240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BDB2165-3C28-9A44-0C3E-F2EA90CA5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92daf70c38_0_26:notes">
            <a:extLst>
              <a:ext uri="{FF2B5EF4-FFF2-40B4-BE49-F238E27FC236}">
                <a16:creationId xmlns:a16="http://schemas.microsoft.com/office/drawing/2014/main" id="{046ED8F4-CE3F-A95C-C00C-3EC4A2D64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92daf70c38_0_26:notes">
            <a:extLst>
              <a:ext uri="{FF2B5EF4-FFF2-40B4-BE49-F238E27FC236}">
                <a16:creationId xmlns:a16="http://schemas.microsoft.com/office/drawing/2014/main" id="{25640EFB-D781-0038-BA9C-2D06D49A7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6708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2daf70c38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92daf70c38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e16f26d6e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e16f26d6e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311700" y="317550"/>
            <a:ext cx="8520600" cy="450840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  <p:sp>
        <p:nvSpPr>
          <p:cNvPr id="29" name="Google Shape;29;p6"/>
          <p:cNvSpPr/>
          <p:nvPr/>
        </p:nvSpPr>
        <p:spPr>
          <a:xfrm>
            <a:off x="311700" y="317550"/>
            <a:ext cx="8520600" cy="450840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ctrTitle"/>
          </p:nvPr>
        </p:nvSpPr>
        <p:spPr>
          <a:xfrm>
            <a:off x="311700" y="1028700"/>
            <a:ext cx="8520600" cy="227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4780">
                <a:latin typeface="Roboto Mono Medium"/>
                <a:ea typeface="Roboto Mono Medium"/>
                <a:cs typeface="Roboto Mono Medium"/>
                <a:sym typeface="Roboto Mono Medium"/>
              </a:rPr>
              <a:t>Rozproszona współpraca LLM inspirowana umysłami rojowymi</a:t>
            </a:r>
            <a:endParaRPr sz="4780"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311700" y="36868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1700">
                <a:latin typeface="Roboto Mono"/>
                <a:ea typeface="Roboto Mono"/>
                <a:cs typeface="Roboto Mono"/>
                <a:sym typeface="Roboto Mono"/>
              </a:rPr>
              <a:t>Jakub Nowak, Alicja Sobiech, Oliwier Komorowski, Kacper Skudlarz</a:t>
            </a:r>
            <a:br>
              <a:rPr lang="pl" sz="1700">
                <a:latin typeface="Roboto Mono"/>
                <a:ea typeface="Roboto Mono"/>
                <a:cs typeface="Roboto Mono"/>
                <a:sym typeface="Roboto Mono"/>
              </a:rPr>
            </a:br>
            <a:br>
              <a:rPr lang="pl" sz="17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pl" sz="1700">
                <a:latin typeface="Roboto Mono"/>
                <a:ea typeface="Roboto Mono"/>
                <a:cs typeface="Roboto Mono"/>
                <a:sym typeface="Roboto Mono"/>
              </a:rPr>
              <a:t>Opiekun projektu: mgr inż. Jan Majkutewicz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446725"/>
            <a:ext cx="8520600" cy="6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pl" sz="3520" b="1">
                <a:latin typeface="Roboto Mono"/>
                <a:ea typeface="Roboto Mono"/>
                <a:cs typeface="Roboto Mono"/>
                <a:sym typeface="Roboto Mono"/>
              </a:rPr>
              <a:t>PLAN PREZENTACJI</a:t>
            </a:r>
            <a:endParaRPr sz="352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3220" b="1"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4294967295"/>
          </p:nvPr>
        </p:nvSpPr>
        <p:spPr>
          <a:xfrm>
            <a:off x="891300" y="1434450"/>
            <a:ext cx="7361400" cy="276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Roboto Mono"/>
              <a:buAutoNum type="arabicPeriod"/>
            </a:pPr>
            <a:r>
              <a:rPr lang="pl" sz="24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Informacje Ogólne</a:t>
            </a:r>
            <a:endParaRPr sz="2400" i="1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Roboto Mono"/>
              <a:buAutoNum type="arabicPeriod"/>
            </a:pPr>
            <a:r>
              <a:rPr lang="pl" sz="24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Główne założenia projektowe</a:t>
            </a:r>
            <a:endParaRPr sz="24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Roboto Mono"/>
              <a:buAutoNum type="arabicPeriod"/>
            </a:pPr>
            <a:r>
              <a:rPr lang="pl" sz="24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Wykorzystane technologie i narzędzia</a:t>
            </a:r>
            <a:endParaRPr sz="24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Roboto Mono"/>
              <a:buAutoNum type="arabicPeriod"/>
            </a:pPr>
            <a:r>
              <a:rPr lang="pl" sz="24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Osiągnięte rezultaty</a:t>
            </a:r>
            <a:endParaRPr sz="24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1000"/>
              </a:spcAft>
              <a:buClr>
                <a:srgbClr val="434343"/>
              </a:buClr>
              <a:buSzPts val="2400"/>
              <a:buFont typeface="Roboto Mono"/>
              <a:buAutoNum type="arabicPeriod"/>
            </a:pPr>
            <a:r>
              <a:rPr lang="pl" sz="24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Plany na następny semestr</a:t>
            </a:r>
            <a:endParaRPr sz="24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6725"/>
            <a:ext cx="8520600" cy="6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pl" sz="3520" b="1">
                <a:latin typeface="Roboto Mono"/>
                <a:ea typeface="Roboto Mono"/>
                <a:cs typeface="Roboto Mono"/>
                <a:sym typeface="Roboto Mono"/>
              </a:rPr>
              <a:t>INFORMACJE OGÓLNE</a:t>
            </a:r>
            <a:endParaRPr sz="352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3220" b="1"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4294967295"/>
          </p:nvPr>
        </p:nvSpPr>
        <p:spPr>
          <a:xfrm>
            <a:off x="681450" y="1528450"/>
            <a:ext cx="7781100" cy="276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27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Celem projektu jest opracowanie systemu </a:t>
            </a:r>
            <a:r>
              <a:rPr lang="pl" sz="2700" b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rozproszonej współpracy modeli LLM inspirowanej koncepcją biologicznych umysłów rojowych</a:t>
            </a:r>
            <a:r>
              <a:rPr lang="pl" sz="27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.</a:t>
            </a:r>
            <a:endParaRPr sz="27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557800"/>
            <a:ext cx="8520600" cy="6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pl" sz="3520" b="1">
                <a:latin typeface="Roboto Mono"/>
                <a:ea typeface="Roboto Mono"/>
                <a:cs typeface="Roboto Mono"/>
                <a:sym typeface="Roboto Mono"/>
              </a:rPr>
              <a:t>GŁÓWNE ZAŁOŻENIA PROJEKTOWE</a:t>
            </a:r>
            <a:endParaRPr sz="352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3220" b="1"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4294967295"/>
          </p:nvPr>
        </p:nvSpPr>
        <p:spPr>
          <a:xfrm>
            <a:off x="488100" y="1370450"/>
            <a:ext cx="8167800" cy="32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pl" sz="205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System oparty na współdzielonym dynamicznie aktualizowanym stanie globalnym</a:t>
            </a:r>
            <a:endParaRPr sz="205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05000"/>
              </a:lnSpc>
              <a:spcBef>
                <a:spcPts val="2500"/>
              </a:spcBef>
              <a:spcAft>
                <a:spcPts val="0"/>
              </a:spcAft>
              <a:buSzPts val="935"/>
              <a:buNone/>
            </a:pPr>
            <a:r>
              <a:rPr lang="pl" sz="205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Szybka, równoległa, rozproszona komunikacja między modelami</a:t>
            </a:r>
            <a:endParaRPr sz="205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05000"/>
              </a:lnSpc>
              <a:spcBef>
                <a:spcPts val="2500"/>
              </a:spcBef>
              <a:spcAft>
                <a:spcPts val="0"/>
              </a:spcAft>
              <a:buSzPts val="935"/>
              <a:buNone/>
            </a:pPr>
            <a:r>
              <a:rPr lang="pl" sz="205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Nietrywialne podejścia do współpracy modeli</a:t>
            </a:r>
            <a:endParaRPr sz="205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05000"/>
              </a:lnSpc>
              <a:spcBef>
                <a:spcPts val="2500"/>
              </a:spcBef>
              <a:spcAft>
                <a:spcPts val="2500"/>
              </a:spcAft>
              <a:buSzPts val="935"/>
              <a:buNone/>
            </a:pPr>
            <a:r>
              <a:rPr lang="pl" sz="205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Współdziałanie modeli inspirowane umysłami rojowymi</a:t>
            </a:r>
            <a:endParaRPr sz="205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5834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950" b="1">
                <a:latin typeface="Roboto Mono"/>
                <a:ea typeface="Roboto Mono"/>
                <a:cs typeface="Roboto Mono"/>
                <a:sym typeface="Roboto Mono"/>
              </a:rPr>
              <a:t>WYKORZYSTANE TECHNOLOGIE I NARZĘDZIA</a:t>
            </a:r>
            <a:endParaRPr sz="2950" b="1"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81" name="Google Shape;81;p17"/>
          <p:cNvGrpSpPr/>
          <p:nvPr/>
        </p:nvGrpSpPr>
        <p:grpSpPr>
          <a:xfrm>
            <a:off x="536425" y="1633950"/>
            <a:ext cx="8013849" cy="2462076"/>
            <a:chOff x="536425" y="1633950"/>
            <a:chExt cx="8013849" cy="2462076"/>
          </a:xfrm>
        </p:grpSpPr>
        <p:pic>
          <p:nvPicPr>
            <p:cNvPr id="82" name="Google Shape;82;p17" title="github_circle_logo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136324" y="1633950"/>
              <a:ext cx="2413950" cy="24620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17" title="ollama_circle_logo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336374" y="1669792"/>
              <a:ext cx="2475400" cy="242623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17" title="python_circle_logo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536425" y="1633950"/>
              <a:ext cx="2475397" cy="246207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311700" y="472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3500" b="1">
                <a:latin typeface="Roboto Mono"/>
                <a:ea typeface="Roboto Mono"/>
                <a:cs typeface="Roboto Mono"/>
                <a:sym typeface="Roboto Mono"/>
              </a:rPr>
              <a:t>OSIĄGNIĘTE REZULTATY</a:t>
            </a:r>
            <a:endParaRPr sz="3500" b="1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4294967295"/>
          </p:nvPr>
        </p:nvSpPr>
        <p:spPr>
          <a:xfrm>
            <a:off x="657300" y="1220850"/>
            <a:ext cx="7829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300">
                <a:latin typeface="Roboto Mono"/>
                <a:ea typeface="Roboto Mono"/>
                <a:cs typeface="Roboto Mono"/>
                <a:sym typeface="Roboto Mono"/>
              </a:rPr>
              <a:t>Aplikacja konsolowa z możliwością wprowadzania promptów przez użytkownika</a:t>
            </a:r>
            <a:endParaRPr sz="6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3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lang="pl" sz="2300">
                <a:latin typeface="Roboto Mono"/>
                <a:ea typeface="Roboto Mono"/>
                <a:cs typeface="Roboto Mono"/>
                <a:sym typeface="Roboto Mono"/>
              </a:rPr>
              <a:t>Aplikacja przystosowana jest do rozwiązywania problemów matematycznych</a:t>
            </a:r>
            <a:endParaRPr sz="6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30000"/>
              </a:lnSpc>
              <a:spcBef>
                <a:spcPts val="2000"/>
              </a:spcBef>
              <a:spcAft>
                <a:spcPts val="2000"/>
              </a:spcAft>
              <a:buNone/>
            </a:pPr>
            <a:r>
              <a:rPr lang="pl" sz="2300">
                <a:latin typeface="Roboto Mono"/>
                <a:ea typeface="Roboto Mono"/>
                <a:cs typeface="Roboto Mono"/>
                <a:sym typeface="Roboto Mono"/>
              </a:rPr>
              <a:t>W tym celu wykorzystuje trzech agentów bazujących na tym samym modelu LLM</a:t>
            </a:r>
            <a:endParaRPr sz="23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365755B8-DC3D-BC9E-3B7F-429366FFB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>
            <a:extLst>
              <a:ext uri="{FF2B5EF4-FFF2-40B4-BE49-F238E27FC236}">
                <a16:creationId xmlns:a16="http://schemas.microsoft.com/office/drawing/2014/main" id="{5A339104-11F7-B3BA-8071-3B653716D4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72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SzPts val="990"/>
            </a:pPr>
            <a:r>
              <a:rPr lang="pl" sz="3500" b="1" dirty="0">
                <a:latin typeface="Roboto Mono"/>
                <a:ea typeface="Roboto Mono"/>
                <a:cs typeface="Roboto Mono"/>
                <a:sym typeface="Roboto Mono"/>
              </a:rPr>
              <a:t>PRZYKŁADY (1)</a:t>
            </a:r>
            <a:endParaRPr sz="3500" b="1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8">
            <a:extLst>
              <a:ext uri="{FF2B5EF4-FFF2-40B4-BE49-F238E27FC236}">
                <a16:creationId xmlns:a16="http://schemas.microsoft.com/office/drawing/2014/main" id="{FEE3E1FB-BB00-67FD-7505-A98F811CABC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7300" y="1220850"/>
            <a:ext cx="7829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pl" sz="2300" dirty="0">
                <a:latin typeface="Roboto Mono"/>
                <a:ea typeface="Roboto Mono"/>
                <a:cs typeface="Roboto Mono"/>
              </a:rPr>
              <a:t>Polecenie 1: </a:t>
            </a:r>
            <a:r>
              <a:rPr lang="pl" sz="2300" dirty="0">
                <a:ea typeface="Roboto Mono"/>
              </a:rPr>
              <a:t>Znajdź długość przeciwprostokątnej trójkąta prostokątnego o przyprostokątnych 3 i 4.</a:t>
            </a:r>
            <a:endParaRPr lang="pl" sz="2300" dirty="0">
              <a:ea typeface="Roboto Mono"/>
              <a:cs typeface="Roboto Mon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DB105D-ADCF-4FE9-FD3B-2D08B6DB69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0688" y="2690813"/>
            <a:ext cx="5762625" cy="102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1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59CAAA0-CF28-2D30-4E10-E1FD495DD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>
            <a:extLst>
              <a:ext uri="{FF2B5EF4-FFF2-40B4-BE49-F238E27FC236}">
                <a16:creationId xmlns:a16="http://schemas.microsoft.com/office/drawing/2014/main" id="{94DF2EC2-B88F-95F6-2545-3312C79B3F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72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SzPts val="990"/>
            </a:pPr>
            <a:r>
              <a:rPr lang="pl" sz="3500" b="1" dirty="0">
                <a:latin typeface="Roboto Mono"/>
                <a:ea typeface="Roboto Mono"/>
                <a:cs typeface="Roboto Mono"/>
                <a:sym typeface="Roboto Mono"/>
              </a:rPr>
              <a:t>PRZYKŁADY (2)</a:t>
            </a:r>
            <a:endParaRPr sz="3500" b="1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8">
            <a:extLst>
              <a:ext uri="{FF2B5EF4-FFF2-40B4-BE49-F238E27FC236}">
                <a16:creationId xmlns:a16="http://schemas.microsoft.com/office/drawing/2014/main" id="{E452B64B-6335-0A73-A5BD-F269E98FBE0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7300" y="1220850"/>
            <a:ext cx="7829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pl" sz="2300" dirty="0">
                <a:latin typeface="Roboto Mono"/>
                <a:ea typeface="Roboto Mono"/>
                <a:cs typeface="Roboto Mono"/>
              </a:rPr>
              <a:t>Polecenie 2: </a:t>
            </a:r>
            <a:r>
              <a:rPr lang="pl" sz="2300" dirty="0">
                <a:ea typeface="Roboto Mono"/>
              </a:rPr>
              <a:t>Znajdź wymierne przybliżenie liczby π z mianownikiem mniejszym niż 1000.</a:t>
            </a:r>
            <a:endParaRPr lang="pl" sz="2300" dirty="0">
              <a:latin typeface="Roboto Mono"/>
              <a:ea typeface="Roboto Mono"/>
              <a:cs typeface="Roboto Mon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00B59B-105B-3772-FD34-D10DE26CF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7375" y="2705100"/>
            <a:ext cx="5429250" cy="101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780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386961D0-4188-F152-8602-F1D35962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>
            <a:extLst>
              <a:ext uri="{FF2B5EF4-FFF2-40B4-BE49-F238E27FC236}">
                <a16:creationId xmlns:a16="http://schemas.microsoft.com/office/drawing/2014/main" id="{40DFEE00-6F70-1D0B-269C-1328E7C54B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72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SzPts val="990"/>
            </a:pPr>
            <a:r>
              <a:rPr lang="pl" sz="3500" b="1" dirty="0">
                <a:latin typeface="Roboto Mono"/>
                <a:ea typeface="Roboto Mono"/>
                <a:cs typeface="Roboto Mono"/>
                <a:sym typeface="Roboto Mono"/>
              </a:rPr>
              <a:t>PRZYKŁADY (3)</a:t>
            </a:r>
            <a:endParaRPr sz="3500" b="1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8">
            <a:extLst>
              <a:ext uri="{FF2B5EF4-FFF2-40B4-BE49-F238E27FC236}">
                <a16:creationId xmlns:a16="http://schemas.microsoft.com/office/drawing/2014/main" id="{05EBDC40-AD59-444E-CB4F-8635FBF5438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7300" y="1220850"/>
            <a:ext cx="7829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pl" sz="2300" dirty="0">
                <a:latin typeface="Roboto Mono"/>
                <a:ea typeface="Roboto Mono"/>
                <a:cs typeface="Roboto Mono"/>
              </a:rPr>
              <a:t>Polecenie 2: </a:t>
            </a:r>
            <a:r>
              <a:rPr lang="pl" sz="2300" dirty="0">
                <a:ea typeface="Roboto Mono"/>
              </a:rPr>
              <a:t>Znajdź wymierne przybliżenie liczby π z mianownikiem mniejszym niż 1000. (włączone logi)</a:t>
            </a:r>
            <a:endParaRPr lang="pl" sz="2300" dirty="0">
              <a:latin typeface="Roboto Mono"/>
              <a:ea typeface="Roboto Mono"/>
              <a:cs typeface="Roboto Mon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C6451-5840-28E2-96D8-4F045C080D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5475" y="2224088"/>
            <a:ext cx="5357813" cy="25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05291FCC-24DE-3B5C-6531-8AA354AD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>
            <a:extLst>
              <a:ext uri="{FF2B5EF4-FFF2-40B4-BE49-F238E27FC236}">
                <a16:creationId xmlns:a16="http://schemas.microsoft.com/office/drawing/2014/main" id="{A65DCF8A-1284-8BC5-EAA0-FBCBEA13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72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SzPts val="990"/>
            </a:pPr>
            <a:r>
              <a:rPr lang="pl" sz="3500" b="1" dirty="0">
                <a:latin typeface="Roboto Mono"/>
                <a:ea typeface="Roboto Mono"/>
                <a:cs typeface="Roboto Mono"/>
                <a:sym typeface="Roboto Mono"/>
              </a:rPr>
              <a:t>PRZYKŁADY (4)</a:t>
            </a:r>
            <a:endParaRPr sz="3500" b="1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8">
            <a:extLst>
              <a:ext uri="{FF2B5EF4-FFF2-40B4-BE49-F238E27FC236}">
                <a16:creationId xmlns:a16="http://schemas.microsoft.com/office/drawing/2014/main" id="{1E151217-DD6D-B01D-C253-473D8FC09A7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7300" y="1220850"/>
            <a:ext cx="7829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pl" sz="2300" dirty="0">
                <a:latin typeface="Roboto Mono"/>
                <a:ea typeface="Roboto Mono"/>
              </a:rPr>
              <a:t>z</a:t>
            </a:r>
            <a:r>
              <a:rPr lang="pl" sz="2300" dirty="0">
                <a:ea typeface="Roboto Mono"/>
              </a:rPr>
              <a:t>łe obliczenia + włączone logi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3BE75A-B14D-F346-FD3B-DE197DF6F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1108" y="1743075"/>
            <a:ext cx="3781783" cy="3043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207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BEBA5002-012F-895C-7F74-E17C6F510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>
            <a:extLst>
              <a:ext uri="{FF2B5EF4-FFF2-40B4-BE49-F238E27FC236}">
                <a16:creationId xmlns:a16="http://schemas.microsoft.com/office/drawing/2014/main" id="{FAF202BF-4ED3-7CCA-1029-DA689E6DAA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72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SzPts val="990"/>
            </a:pPr>
            <a:r>
              <a:rPr lang="pl" sz="3500" b="1" dirty="0">
                <a:latin typeface="Roboto Mono"/>
                <a:ea typeface="Roboto Mono"/>
                <a:cs typeface="Roboto Mono"/>
                <a:sym typeface="Roboto Mono"/>
              </a:rPr>
              <a:t>PRZYKŁADY (5)</a:t>
            </a:r>
            <a:endParaRPr sz="3500" b="1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0" name="Google Shape;90;p18">
            <a:extLst>
              <a:ext uri="{FF2B5EF4-FFF2-40B4-BE49-F238E27FC236}">
                <a16:creationId xmlns:a16="http://schemas.microsoft.com/office/drawing/2014/main" id="{954F4213-5394-24EA-277A-8D9B537ED1E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57300" y="1220850"/>
            <a:ext cx="7829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pl" sz="2300" dirty="0">
                <a:latin typeface="Roboto Mono"/>
                <a:ea typeface="Roboto Mono"/>
              </a:rPr>
              <a:t>Przykładowy </a:t>
            </a:r>
            <a:r>
              <a:rPr lang="pl" sz="2300" dirty="0" err="1">
                <a:latin typeface="Roboto Mono"/>
                <a:ea typeface="Roboto Mono"/>
              </a:rPr>
              <a:t>research</a:t>
            </a:r>
            <a:r>
              <a:rPr lang="pl" sz="2300" dirty="0">
                <a:latin typeface="Roboto Mono"/>
                <a:ea typeface="Roboto Mono"/>
              </a:rPr>
              <a:t>:</a:t>
            </a:r>
            <a:endParaRPr lang="pl" sz="2300" dirty="0">
              <a:ea typeface="Roboto Mon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9575F3-5547-C806-B260-3CF40E819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0725" y="1743075"/>
            <a:ext cx="5167313" cy="303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38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/>
          </p:nvPr>
        </p:nvSpPr>
        <p:spPr>
          <a:xfrm>
            <a:off x="311700" y="455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3500" b="1">
                <a:latin typeface="Roboto Mono"/>
                <a:ea typeface="Roboto Mono"/>
                <a:cs typeface="Roboto Mono"/>
                <a:sym typeface="Roboto Mono"/>
              </a:rPr>
              <a:t>PLANY NA KOLEJNY SEMESTR</a:t>
            </a:r>
            <a:endParaRPr sz="3500" b="1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4294967295"/>
          </p:nvPr>
        </p:nvSpPr>
        <p:spPr>
          <a:xfrm>
            <a:off x="724800" y="1451525"/>
            <a:ext cx="7694400" cy="28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l" sz="2700">
                <a:latin typeface="Roboto Mono"/>
                <a:ea typeface="Roboto Mono"/>
                <a:cs typeface="Roboto Mono"/>
                <a:sym typeface="Roboto Mono"/>
              </a:rPr>
              <a:t>Zróżnicowanie wykorzystywanych </a:t>
            </a:r>
            <a:br>
              <a:rPr lang="pl" sz="27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pl" sz="2700">
                <a:latin typeface="Roboto Mono"/>
                <a:ea typeface="Roboto Mono"/>
                <a:cs typeface="Roboto Mono"/>
                <a:sym typeface="Roboto Mono"/>
              </a:rPr>
              <a:t>modeli LLM</a:t>
            </a:r>
            <a:endParaRPr sz="2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3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lang="pl" sz="2700">
                <a:latin typeface="Roboto Mono"/>
                <a:ea typeface="Roboto Mono"/>
                <a:cs typeface="Roboto Mono"/>
                <a:sym typeface="Roboto Mono"/>
              </a:rPr>
              <a:t>Implementacja równoległej współpracy agentów</a:t>
            </a:r>
            <a:endParaRPr sz="27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lnSpc>
                <a:spcPct val="130000"/>
              </a:lnSpc>
              <a:spcBef>
                <a:spcPts val="2000"/>
              </a:spcBef>
              <a:spcAft>
                <a:spcPts val="2000"/>
              </a:spcAft>
              <a:buNone/>
            </a:pPr>
            <a:r>
              <a:rPr lang="pl" sz="2700">
                <a:latin typeface="Roboto Mono"/>
                <a:ea typeface="Roboto Mono"/>
                <a:cs typeface="Roboto Mono"/>
                <a:sym typeface="Roboto Mono"/>
              </a:rPr>
              <a:t>Ulepszenie otrzymywanych rezultatów</a:t>
            </a:r>
            <a:endParaRPr sz="27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>
            <a:spLocks noGrp="1"/>
          </p:cNvSpPr>
          <p:nvPr>
            <p:ph type="ctrTitle"/>
          </p:nvPr>
        </p:nvSpPr>
        <p:spPr>
          <a:xfrm>
            <a:off x="311700" y="1320150"/>
            <a:ext cx="8520600" cy="190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5780">
                <a:latin typeface="Roboto Mono Medium"/>
                <a:ea typeface="Roboto Mono Medium"/>
                <a:cs typeface="Roboto Mono Medium"/>
                <a:sym typeface="Roboto Mono Medium"/>
              </a:rPr>
              <a:t>DZIĘKUJEMY </a:t>
            </a:r>
            <a:br>
              <a:rPr lang="pl" sz="5780">
                <a:latin typeface="Roboto Mono Medium"/>
                <a:ea typeface="Roboto Mono Medium"/>
                <a:cs typeface="Roboto Mono Medium"/>
                <a:sym typeface="Roboto Mono Medium"/>
              </a:rPr>
            </a:br>
            <a:r>
              <a:rPr lang="pl" sz="5780">
                <a:latin typeface="Roboto Mono Medium"/>
                <a:ea typeface="Roboto Mono Medium"/>
                <a:cs typeface="Roboto Mono Medium"/>
                <a:sym typeface="Roboto Mono Medium"/>
              </a:rPr>
              <a:t>ZA UWAGĘ!</a:t>
            </a:r>
            <a:endParaRPr sz="5780"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102" name="Google Shape;102;p20"/>
          <p:cNvSpPr txBox="1">
            <a:spLocks noGrp="1"/>
          </p:cNvSpPr>
          <p:nvPr>
            <p:ph type="subTitle" idx="1"/>
          </p:nvPr>
        </p:nvSpPr>
        <p:spPr>
          <a:xfrm>
            <a:off x="311700" y="3661200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1700">
                <a:latin typeface="Roboto Mono"/>
                <a:ea typeface="Roboto Mono"/>
                <a:cs typeface="Roboto Mono"/>
                <a:sym typeface="Roboto Mono"/>
              </a:rPr>
              <a:t>Jakub Nowak, Alicja Sobiech, Oliwier Komorowski, Kacper Skudlarz</a:t>
            </a:r>
            <a:br>
              <a:rPr lang="pl" sz="1700">
                <a:latin typeface="Roboto Mono"/>
                <a:ea typeface="Roboto Mono"/>
                <a:cs typeface="Roboto Mono"/>
                <a:sym typeface="Roboto Mono"/>
              </a:rPr>
            </a:br>
            <a:br>
              <a:rPr lang="pl" sz="17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pl" sz="1700">
                <a:latin typeface="Roboto Mono"/>
                <a:ea typeface="Roboto Mono"/>
                <a:cs typeface="Roboto Mono"/>
                <a:sym typeface="Roboto Mono"/>
              </a:rPr>
              <a:t>Opiekun projektu: mgr inż. Jan Majkutewicz</a:t>
            </a:r>
            <a:endParaRPr sz="17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13</Slides>
  <Notes>13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Simple Light</vt:lpstr>
      <vt:lpstr>Rozproszona współpraca LLM inspirowana umysłami rojowymi</vt:lpstr>
      <vt:lpstr>PLAN PREZENTACJI </vt:lpstr>
      <vt:lpstr>INFORMACJE OGÓLNE </vt:lpstr>
      <vt:lpstr>GŁÓWNE ZAŁOŻENIA PROJEKTOWE </vt:lpstr>
      <vt:lpstr>WYKORZYSTANE TECHNOLOGIE I NARZĘDZIA</vt:lpstr>
      <vt:lpstr>OSIĄGNIĘTE REZULTATY</vt:lpstr>
      <vt:lpstr>PRZYKŁADY (1)</vt:lpstr>
      <vt:lpstr>PRZYKŁADY (2)</vt:lpstr>
      <vt:lpstr>PRZYKŁADY (3)</vt:lpstr>
      <vt:lpstr>PRZYKŁADY (4)</vt:lpstr>
      <vt:lpstr>PRZYKŁADY (5)</vt:lpstr>
      <vt:lpstr>PLANY NA KOLEJNY SEMESTR</vt:lpstr>
      <vt:lpstr>DZIĘKUJEMY  ZA UWAGĘ!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78</cp:revision>
  <dcterms:modified xsi:type="dcterms:W3CDTF">2026-01-29T18:01:48Z</dcterms:modified>
</cp:coreProperties>
</file>